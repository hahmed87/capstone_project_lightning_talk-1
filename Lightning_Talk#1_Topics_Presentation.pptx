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5196" autoAdjust="0"/>
  </p:normalViewPr>
  <p:slideViewPr>
    <p:cSldViewPr snapToGrid="0" snapToObjects="1">
      <p:cViewPr varScale="1">
        <p:scale>
          <a:sx n="81" d="100"/>
          <a:sy n="81" d="100"/>
        </p:scale>
        <p:origin x="201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9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9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98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6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8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23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5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7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2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56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13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83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76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31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3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01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15/06/2026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46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/>
              <a:t>Lightning Talk #1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sz="2800" dirty="0"/>
              <a:t>Topics:</a:t>
            </a:r>
          </a:p>
          <a:p>
            <a:pPr marL="0" indent="0">
              <a:buNone/>
            </a:pPr>
            <a:r>
              <a:rPr sz="2800" dirty="0"/>
              <a:t>1. Loan Default Prediction</a:t>
            </a:r>
          </a:p>
          <a:p>
            <a:pPr marL="0" indent="0">
              <a:buNone/>
            </a:pPr>
            <a:r>
              <a:rPr sz="2800" dirty="0"/>
              <a:t>2. Hospital Readmission Prediction</a:t>
            </a:r>
          </a:p>
          <a:p>
            <a:pPr marL="0" indent="0">
              <a:buNone/>
            </a:pPr>
            <a:r>
              <a:rPr sz="2800" dirty="0"/>
              <a:t>3. Customer Churn Prediction</a:t>
            </a:r>
            <a:endParaRPr lang="en-US" sz="2800" dirty="0"/>
          </a:p>
          <a:p>
            <a:endParaRPr lang="en-US" dirty="0"/>
          </a:p>
          <a:p>
            <a:pPr marL="0" indent="0">
              <a:buNone/>
            </a:pPr>
            <a:r>
              <a:rPr lang="en-US" sz="1600" dirty="0"/>
              <a:t>Prepared by: Husain Ahmed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Topic 1: Loan Default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pPr marL="0" indent="0">
              <a:buNone/>
            </a:pPr>
            <a:endParaRPr sz="24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CCF26E-45F9-273D-1529-5F06C4ADA429}"/>
              </a:ext>
            </a:extLst>
          </p:cNvPr>
          <p:cNvSpPr/>
          <p:nvPr/>
        </p:nvSpPr>
        <p:spPr>
          <a:xfrm>
            <a:off x="790049" y="1811043"/>
            <a:ext cx="7563901" cy="184420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b="1" dirty="0">
                <a:latin typeface="+mj-lt"/>
              </a:rPr>
              <a:t>Problem Statement:</a:t>
            </a:r>
          </a:p>
          <a:p>
            <a:pPr marL="0" indent="0">
              <a:buNone/>
            </a:pPr>
            <a:r>
              <a:rPr lang="en-US" sz="2400" b="0" i="0" dirty="0">
                <a:effectLst/>
                <a:latin typeface="+mj-lt"/>
              </a:rPr>
              <a:t>Loan default is a major risk for financial institutions, as it can lead to significant financial losses. </a:t>
            </a:r>
            <a:endParaRPr lang="en-US" sz="2400" dirty="0"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1B44E1-CD31-CE3B-72BB-76775ECAA0A5}"/>
              </a:ext>
            </a:extLst>
          </p:cNvPr>
          <p:cNvSpPr/>
          <p:nvPr/>
        </p:nvSpPr>
        <p:spPr>
          <a:xfrm>
            <a:off x="790048" y="4101126"/>
            <a:ext cx="7563901" cy="184420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b="1" dirty="0">
                <a:latin typeface="+mj-lt"/>
              </a:rPr>
              <a:t>Goal: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Develop a Supervised Binary Classification model that will predict </a:t>
            </a:r>
            <a:r>
              <a:rPr lang="en-US" sz="2400" b="0" i="0" dirty="0">
                <a:effectLst/>
                <a:latin typeface="+mj-lt"/>
              </a:rPr>
              <a:t>whether a borrower will default on a loan</a:t>
            </a:r>
            <a:r>
              <a:rPr lang="en-US" sz="2400" dirty="0">
                <a:latin typeface="+mj-lt"/>
              </a:rPr>
              <a:t>.</a:t>
            </a:r>
          </a:p>
          <a:p>
            <a:pPr algn="ctr"/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sz="2400" dirty="0"/>
          </a:p>
          <a:p>
            <a:endParaRPr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62EB8D-BB2C-C7B0-D87E-BE8ED9A6AAA9}"/>
              </a:ext>
            </a:extLst>
          </p:cNvPr>
          <p:cNvSpPr/>
          <p:nvPr/>
        </p:nvSpPr>
        <p:spPr>
          <a:xfrm>
            <a:off x="730579" y="1841844"/>
            <a:ext cx="3568044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400" dirty="0">
                <a:latin typeface="+mj-lt"/>
              </a:rPr>
              <a:t>Dataset Overview:</a:t>
            </a:r>
          </a:p>
          <a:p>
            <a:pPr lvl="1"/>
            <a:r>
              <a:rPr lang="en-US" sz="2400" dirty="0">
                <a:latin typeface="+mj-lt"/>
              </a:rPr>
              <a:t>Records: 148,670</a:t>
            </a:r>
          </a:p>
          <a:p>
            <a:pPr lvl="1"/>
            <a:r>
              <a:rPr lang="en-US" sz="2400" dirty="0">
                <a:latin typeface="+mj-lt"/>
              </a:rPr>
              <a:t>Features: 34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A0274C-D972-1472-0A7F-B43925292C8F}"/>
              </a:ext>
            </a:extLst>
          </p:cNvPr>
          <p:cNvSpPr/>
          <p:nvPr/>
        </p:nvSpPr>
        <p:spPr>
          <a:xfrm>
            <a:off x="730579" y="4174263"/>
            <a:ext cx="3714160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/>
              <a:t>Missing Values: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Upfront_charges</a:t>
            </a:r>
            <a:r>
              <a:rPr lang="en-US" dirty="0"/>
              <a:t> (26.66%)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Interest_rate_spread</a:t>
            </a:r>
            <a:r>
              <a:rPr lang="en-US" dirty="0"/>
              <a:t> (24.64%)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rate_of_interest</a:t>
            </a:r>
            <a:r>
              <a:rPr lang="en-US" dirty="0"/>
              <a:t> (24.51%)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E3B1B2-FF3C-799C-2FD4-9F8EFBB368AC}"/>
              </a:ext>
            </a:extLst>
          </p:cNvPr>
          <p:cNvSpPr/>
          <p:nvPr/>
        </p:nvSpPr>
        <p:spPr>
          <a:xfrm>
            <a:off x="5118756" y="1841843"/>
            <a:ext cx="3568044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400" dirty="0">
                <a:latin typeface="+mj-lt"/>
              </a:rPr>
              <a:t>Feature Types:</a:t>
            </a:r>
          </a:p>
          <a:p>
            <a:pPr lvl="1"/>
            <a:r>
              <a:rPr lang="en-US" sz="2400" dirty="0">
                <a:latin typeface="+mj-lt"/>
              </a:rPr>
              <a:t>Numerical: 13</a:t>
            </a:r>
          </a:p>
          <a:p>
            <a:pPr lvl="1"/>
            <a:r>
              <a:rPr lang="en-US" sz="2400" dirty="0">
                <a:latin typeface="+mj-lt"/>
              </a:rPr>
              <a:t>Categorical: 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E0A7692-08E1-A1FC-6843-856EB6772D7F}"/>
              </a:ext>
            </a:extLst>
          </p:cNvPr>
          <p:cNvSpPr/>
          <p:nvPr/>
        </p:nvSpPr>
        <p:spPr>
          <a:xfrm>
            <a:off x="5118756" y="4174263"/>
            <a:ext cx="3568044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dirty="0">
                <a:latin typeface="+mj-lt"/>
              </a:rPr>
              <a:t>Outliers: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Income - </a:t>
            </a:r>
            <a:r>
              <a:rPr lang="en-US" b="0" i="0" dirty="0">
                <a:effectLst/>
                <a:latin typeface="+mj-lt"/>
              </a:rPr>
              <a:t>6,546 rows</a:t>
            </a:r>
            <a:endParaRPr lang="en-U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</a:rPr>
              <a:t>property_value</a:t>
            </a:r>
            <a:r>
              <a:rPr lang="en-US" dirty="0">
                <a:latin typeface="+mj-lt"/>
              </a:rPr>
              <a:t> - </a:t>
            </a:r>
            <a:r>
              <a:rPr lang="en-US" b="0" i="0" dirty="0">
                <a:effectLst/>
                <a:latin typeface="+mj-lt"/>
              </a:rPr>
              <a:t>5,266 rows</a:t>
            </a:r>
            <a:endParaRPr lang="en-US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+mj-lt"/>
              </a:rPr>
              <a:t>Upfront_charges</a:t>
            </a:r>
            <a:r>
              <a:rPr lang="en-US" dirty="0">
                <a:latin typeface="+mj-lt"/>
              </a:rPr>
              <a:t> - </a:t>
            </a:r>
            <a:r>
              <a:rPr lang="en-US" b="0" i="0" dirty="0">
                <a:effectLst/>
                <a:latin typeface="+mj-lt"/>
              </a:rPr>
              <a:t>2,880 rows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689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Topic 2: Hospital Readmission Prediction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9B4544-277E-A091-D703-7EB3DEAD696C}"/>
              </a:ext>
            </a:extLst>
          </p:cNvPr>
          <p:cNvSpPr/>
          <p:nvPr/>
        </p:nvSpPr>
        <p:spPr>
          <a:xfrm>
            <a:off x="790049" y="1839326"/>
            <a:ext cx="7563901" cy="184420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b="1" dirty="0">
                <a:latin typeface="+mj-lt"/>
              </a:rPr>
              <a:t>Problem Statement: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R</a:t>
            </a:r>
            <a:r>
              <a:rPr lang="en-US" sz="2400" b="0" i="0" dirty="0">
                <a:effectLst/>
                <a:latin typeface="+mj-lt"/>
              </a:rPr>
              <a:t>epeated admissions increase healthcare costs and may indicate inadequate treatment or follow-up care. </a:t>
            </a:r>
            <a:endParaRPr lang="en-US" sz="2400" dirty="0">
              <a:latin typeface="+mj-lt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432294-6830-0C2B-36CF-068290F67AB8}"/>
              </a:ext>
            </a:extLst>
          </p:cNvPr>
          <p:cNvSpPr/>
          <p:nvPr/>
        </p:nvSpPr>
        <p:spPr>
          <a:xfrm>
            <a:off x="790049" y="4101126"/>
            <a:ext cx="7563901" cy="184420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b="1" dirty="0">
                <a:latin typeface="+mj-lt"/>
              </a:rPr>
              <a:t>Goal: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Develop a Supervised Binary Classification model that will predict </a:t>
            </a:r>
            <a:r>
              <a:rPr lang="en-US" sz="2400" b="0" i="0" dirty="0">
                <a:effectLst/>
                <a:latin typeface="+mj-lt"/>
              </a:rPr>
              <a:t>whether a diabetic patient will be readmitted after discharge.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EDA Findings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2D8D00-A99B-B40C-3CDD-ABF7A2104DF6}"/>
              </a:ext>
            </a:extLst>
          </p:cNvPr>
          <p:cNvSpPr/>
          <p:nvPr/>
        </p:nvSpPr>
        <p:spPr>
          <a:xfrm>
            <a:off x="787141" y="1958417"/>
            <a:ext cx="3568044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400" dirty="0">
                <a:latin typeface="+mj-lt"/>
              </a:rPr>
              <a:t>Dataset Overview:</a:t>
            </a:r>
          </a:p>
          <a:p>
            <a:pPr lvl="1"/>
            <a:r>
              <a:rPr lang="en-US" sz="2400" dirty="0">
                <a:latin typeface="+mj-lt"/>
              </a:rPr>
              <a:t>Records: 101,766</a:t>
            </a:r>
          </a:p>
          <a:p>
            <a:pPr lvl="1"/>
            <a:r>
              <a:rPr lang="en-US" sz="2400" dirty="0">
                <a:latin typeface="+mj-lt"/>
              </a:rPr>
              <a:t>Features: 50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AC5E38-CC70-C525-6EF5-6D2FE7C331D7}"/>
              </a:ext>
            </a:extLst>
          </p:cNvPr>
          <p:cNvSpPr/>
          <p:nvPr/>
        </p:nvSpPr>
        <p:spPr>
          <a:xfrm>
            <a:off x="714083" y="4271435"/>
            <a:ext cx="3714160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000" dirty="0">
                <a:latin typeface="+mj-lt"/>
              </a:rPr>
              <a:t>Missing Values: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weight (96.86%)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+mj-lt"/>
              </a:rPr>
              <a:t>max_glu_serum</a:t>
            </a:r>
            <a:r>
              <a:rPr lang="en-US" sz="2000" dirty="0">
                <a:latin typeface="+mj-lt"/>
              </a:rPr>
              <a:t> (94.75%)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j-lt"/>
              </a:rPr>
              <a:t>A1Cresult (83.28%)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7528CC-F40B-C263-4227-99C1367D445E}"/>
              </a:ext>
            </a:extLst>
          </p:cNvPr>
          <p:cNvSpPr/>
          <p:nvPr/>
        </p:nvSpPr>
        <p:spPr>
          <a:xfrm>
            <a:off x="4819453" y="1958417"/>
            <a:ext cx="3568044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400" dirty="0">
                <a:latin typeface="+mj-lt"/>
              </a:rPr>
              <a:t>Feature Types:</a:t>
            </a:r>
          </a:p>
          <a:p>
            <a:pPr lvl="1"/>
            <a:r>
              <a:rPr lang="en-US" sz="2400" dirty="0">
                <a:latin typeface="+mj-lt"/>
              </a:rPr>
              <a:t>Numerical: 13</a:t>
            </a:r>
          </a:p>
          <a:p>
            <a:pPr lvl="1"/>
            <a:r>
              <a:rPr lang="en-US" sz="2400" dirty="0">
                <a:latin typeface="+mj-lt"/>
              </a:rPr>
              <a:t>Categorical: 37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8ADAFED-E003-3095-FAFC-DD62521638CD}"/>
              </a:ext>
            </a:extLst>
          </p:cNvPr>
          <p:cNvSpPr/>
          <p:nvPr/>
        </p:nvSpPr>
        <p:spPr>
          <a:xfrm>
            <a:off x="4819453" y="4271435"/>
            <a:ext cx="3568044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600" dirty="0">
                <a:latin typeface="+mj-lt"/>
              </a:rPr>
              <a:t>Outliers: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number_outpatient</a:t>
            </a:r>
            <a:r>
              <a:rPr lang="en-US" sz="1600" dirty="0">
                <a:latin typeface="+mj-lt"/>
              </a:rPr>
              <a:t> - </a:t>
            </a:r>
            <a:r>
              <a:rPr lang="en-US" sz="1600" b="0" i="0" dirty="0">
                <a:effectLst/>
                <a:latin typeface="+mj-lt"/>
              </a:rPr>
              <a:t>16,739 rows</a:t>
            </a: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number_emergency</a:t>
            </a:r>
            <a:r>
              <a:rPr lang="en-US" sz="1600" dirty="0">
                <a:latin typeface="+mj-lt"/>
              </a:rPr>
              <a:t> - </a:t>
            </a:r>
            <a:r>
              <a:rPr lang="en-US" sz="1600" b="0" i="0" dirty="0">
                <a:effectLst/>
                <a:latin typeface="+mj-lt"/>
              </a:rPr>
              <a:t>11,383 rows</a:t>
            </a: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+mj-lt"/>
              </a:rPr>
              <a:t>number_inpatient</a:t>
            </a:r>
            <a:r>
              <a:rPr lang="en-US" sz="1600" dirty="0">
                <a:latin typeface="+mj-lt"/>
              </a:rPr>
              <a:t> - </a:t>
            </a:r>
            <a:r>
              <a:rPr lang="en-US" sz="1600" b="0" i="0" dirty="0">
                <a:effectLst/>
                <a:latin typeface="+mj-lt"/>
              </a:rPr>
              <a:t>7,049 rows</a:t>
            </a:r>
            <a:endParaRPr lang="en-US" sz="160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Customer Churn Prediction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F3E185-AE0B-2133-2D71-CA5B6078FF0D}"/>
              </a:ext>
            </a:extLst>
          </p:cNvPr>
          <p:cNvSpPr/>
          <p:nvPr/>
        </p:nvSpPr>
        <p:spPr>
          <a:xfrm>
            <a:off x="790049" y="1839325"/>
            <a:ext cx="7563901" cy="230846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b="1" dirty="0">
                <a:latin typeface="+mj-lt"/>
              </a:rPr>
              <a:t>Problem Statement: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Customer churn reduces revenue and increases customer acquisition costs.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925575-482D-572F-8609-561B924F72B8}"/>
              </a:ext>
            </a:extLst>
          </p:cNvPr>
          <p:cNvSpPr/>
          <p:nvPr/>
        </p:nvSpPr>
        <p:spPr>
          <a:xfrm>
            <a:off x="790049" y="4327372"/>
            <a:ext cx="7563901" cy="184420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2400" b="1" dirty="0">
                <a:latin typeface="+mj-lt"/>
              </a:rPr>
              <a:t>Goal: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Develop a Supervised Binary Classification model to predict whether a customer is likely to churn.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EDA Findings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5501FD-9693-6186-AD7C-C26747F66562}"/>
              </a:ext>
            </a:extLst>
          </p:cNvPr>
          <p:cNvSpPr/>
          <p:nvPr/>
        </p:nvSpPr>
        <p:spPr>
          <a:xfrm>
            <a:off x="787141" y="1958417"/>
            <a:ext cx="3568044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400" dirty="0">
                <a:latin typeface="+mj-lt"/>
              </a:rPr>
              <a:t>Dataset Overview:</a:t>
            </a:r>
          </a:p>
          <a:p>
            <a:pPr lvl="1"/>
            <a:r>
              <a:rPr lang="en-US" sz="2400" dirty="0">
                <a:latin typeface="+mj-lt"/>
              </a:rPr>
              <a:t>Records: 50,000</a:t>
            </a:r>
          </a:p>
          <a:p>
            <a:pPr lvl="1"/>
            <a:r>
              <a:rPr lang="en-US" sz="2400" dirty="0">
                <a:latin typeface="+mj-lt"/>
              </a:rPr>
              <a:t>Features: 25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996918-8373-8729-2A12-B28F73E9BB18}"/>
              </a:ext>
            </a:extLst>
          </p:cNvPr>
          <p:cNvSpPr/>
          <p:nvPr/>
        </p:nvSpPr>
        <p:spPr>
          <a:xfrm>
            <a:off x="4819453" y="4271435"/>
            <a:ext cx="3714160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800" dirty="0"/>
              <a:t>Outliers 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</a:rPr>
              <a:t>Payment_Method_Diversity</a:t>
            </a:r>
            <a:r>
              <a:rPr lang="en-US" dirty="0"/>
              <a:t> - </a:t>
            </a:r>
            <a:r>
              <a:rPr lang="en-US" b="0" i="0" dirty="0">
                <a:effectLst/>
              </a:rPr>
              <a:t>2,439 rows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</a:rPr>
              <a:t>Days_Since_</a:t>
            </a:r>
            <a:r>
              <a:rPr lang="en-US" b="0" i="0" dirty="0" err="1">
                <a:effectLst/>
                <a:latin typeface="+mj-lt"/>
              </a:rPr>
              <a:t>Last</a:t>
            </a:r>
            <a:r>
              <a:rPr lang="en-US" b="0" i="0" dirty="0" err="1">
                <a:effectLst/>
              </a:rPr>
              <a:t>_Purchase</a:t>
            </a:r>
            <a:r>
              <a:rPr lang="en-US" b="0" i="0" dirty="0">
                <a:effectLst/>
              </a:rPr>
              <a:t> - 2,313 rows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</a:rPr>
              <a:t>Lifetime_Value</a:t>
            </a:r>
            <a:r>
              <a:rPr lang="en-US" b="0" i="0" dirty="0">
                <a:effectLst/>
              </a:rPr>
              <a:t> - 1,684 rows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F1658C-50A3-D4C1-EFC8-8B35D6A426F0}"/>
              </a:ext>
            </a:extLst>
          </p:cNvPr>
          <p:cNvSpPr/>
          <p:nvPr/>
        </p:nvSpPr>
        <p:spPr>
          <a:xfrm>
            <a:off x="4819453" y="1958417"/>
            <a:ext cx="3568044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2400" dirty="0">
                <a:latin typeface="+mj-lt"/>
              </a:rPr>
              <a:t>Feature Types:</a:t>
            </a:r>
          </a:p>
          <a:p>
            <a:pPr lvl="1"/>
            <a:r>
              <a:rPr lang="en-US" sz="2400" dirty="0">
                <a:latin typeface="+mj-lt"/>
              </a:rPr>
              <a:t>Numerical: 21</a:t>
            </a:r>
          </a:p>
          <a:p>
            <a:pPr lvl="1"/>
            <a:r>
              <a:rPr lang="en-US" sz="2400" dirty="0">
                <a:latin typeface="+mj-lt"/>
              </a:rPr>
              <a:t>Categorical: 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E89DB7-8C9C-31A7-E1D5-9CA1E70617C7}"/>
              </a:ext>
            </a:extLst>
          </p:cNvPr>
          <p:cNvSpPr/>
          <p:nvPr/>
        </p:nvSpPr>
        <p:spPr>
          <a:xfrm>
            <a:off x="787141" y="4271434"/>
            <a:ext cx="3568044" cy="177223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650" dirty="0">
                <a:latin typeface="+mj-lt"/>
              </a:rPr>
              <a:t>Missing Values: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 err="1">
                <a:latin typeface="+mj-lt"/>
              </a:rPr>
              <a:t>Social_Media_Engagement_Score</a:t>
            </a:r>
            <a:r>
              <a:rPr lang="en-US" sz="1650" dirty="0">
                <a:latin typeface="+mj-lt"/>
              </a:rPr>
              <a:t> (12%)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 err="1">
                <a:latin typeface="+mj-lt"/>
              </a:rPr>
              <a:t>Credit_Balance</a:t>
            </a:r>
            <a:r>
              <a:rPr lang="en-US" sz="1650" dirty="0">
                <a:latin typeface="+mj-lt"/>
              </a:rPr>
              <a:t> (11%)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50" dirty="0" err="1">
                <a:latin typeface="+mj-lt"/>
              </a:rPr>
              <a:t>Mobile_App_Usage</a:t>
            </a:r>
            <a:r>
              <a:rPr lang="en-US" sz="1650" dirty="0">
                <a:latin typeface="+mj-lt"/>
              </a:rPr>
              <a:t> (10%)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208</TotalTime>
  <Words>359</Words>
  <Application>Microsoft Office PowerPoint</Application>
  <PresentationFormat>On-screen Show (4:3)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 Boardroom</vt:lpstr>
      <vt:lpstr>Lightning Talk #1</vt:lpstr>
      <vt:lpstr>Topic 1: Loan Default Prediction</vt:lpstr>
      <vt:lpstr>Topic 1: EDA Findings</vt:lpstr>
      <vt:lpstr>Topic 2: Hospital Readmission Prediction</vt:lpstr>
      <vt:lpstr>Topic 2: EDA Findings</vt:lpstr>
      <vt:lpstr>Topic 3: Customer Churn Prediction</vt:lpstr>
      <vt:lpstr>Topic 3: EDA Findings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Lightning Talk #1</dc:title>
  <dc:subject/>
  <dc:creator/>
  <cp:keywords/>
  <dc:description>generated using python-pptx</dc:description>
  <cp:lastModifiedBy>Ahmed, Husain</cp:lastModifiedBy>
  <cp:revision>6</cp:revision>
  <dcterms:created xsi:type="dcterms:W3CDTF">2013-01-27T09:14:16Z</dcterms:created>
  <dcterms:modified xsi:type="dcterms:W3CDTF">2026-06-15T15:21:39Z</dcterms:modified>
  <cp:category/>
</cp:coreProperties>
</file>