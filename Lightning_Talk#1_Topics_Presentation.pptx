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04" r:id="rId1"/>
  </p:sldMasterIdLst>
  <p:sldIdLst>
    <p:sldId id="256" r:id="rId2"/>
    <p:sldId id="257" r:id="rId3"/>
    <p:sldId id="263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inimized">
    <p:restoredLeft sz="0" autoAdjust="0"/>
    <p:restoredTop sz="95196" autoAdjust="0"/>
  </p:normalViewPr>
  <p:slideViewPr>
    <p:cSldViewPr snapToGrid="0" snapToObjects="1">
      <p:cViewPr varScale="1">
        <p:scale>
          <a:sx n="81" d="100"/>
          <a:sy n="81" d="100"/>
        </p:scale>
        <p:origin x="201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Oval 9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0" y="2226503"/>
            <a:ext cx="5917679" cy="255087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0" y="4777380"/>
            <a:ext cx="5917679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498080" y="1828800"/>
            <a:ext cx="990599" cy="22865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236208" y="3264408"/>
            <a:ext cx="3859795" cy="228660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396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970" y="927098"/>
            <a:ext cx="6343672" cy="70986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390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6200000">
              <a:off x="3105027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/>
            <p:nvPr/>
          </p:nvSpPr>
          <p:spPr bwMode="gray">
            <a:xfrm rot="15687606">
              <a:off x="3320102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7534" y="2257588"/>
            <a:ext cx="3090672" cy="3020344"/>
          </a:xfrm>
        </p:spPr>
        <p:txBody>
          <a:bodyPr anchor="ctr"/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9261" y="2257588"/>
            <a:ext cx="3082516" cy="302034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798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440" y="2489200"/>
            <a:ext cx="3636980" cy="35306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81" y="2489203"/>
            <a:ext cx="3636980" cy="3530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69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9918" y="2489200"/>
            <a:ext cx="3633502" cy="75929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440" y="3248490"/>
            <a:ext cx="3636980" cy="277131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81" y="2489200"/>
            <a:ext cx="3636979" cy="75663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81" y="3245835"/>
            <a:ext cx="3636980" cy="27739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687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223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39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548536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2" name="Freeform 5"/>
            <p:cNvSpPr/>
            <p:nvPr/>
          </p:nvSpPr>
          <p:spPr bwMode="gray">
            <a:xfrm rot="15687606">
              <a:off x="2769747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447800"/>
            <a:ext cx="2712590" cy="1495588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8927" y="1447800"/>
            <a:ext cx="3632850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1" y="3086845"/>
            <a:ext cx="2712589" cy="2933701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501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852610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 rot="15687606">
              <a:off x="3074559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381390"/>
            <a:ext cx="2987089" cy="157480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22909" y="1320800"/>
            <a:ext cx="2791102" cy="42164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086100"/>
            <a:ext cx="2987089" cy="24511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57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10204164">
              <a:off x="426788" y="456424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6" name="Rectangle 15"/>
            <p:cNvSpPr/>
            <p:nvPr/>
          </p:nvSpPr>
          <p:spPr>
            <a:xfrm>
              <a:off x="421503" y="402165"/>
              <a:ext cx="8327939" cy="3141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0800000">
              <a:off x="485023" y="2670079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4961454"/>
            <a:ext cx="642200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1" y="685800"/>
            <a:ext cx="6422004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0" y="5528192"/>
            <a:ext cx="6422004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423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2780895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Rectangle 8"/>
            <p:cNvSpPr/>
            <p:nvPr/>
          </p:nvSpPr>
          <p:spPr>
            <a:xfrm>
              <a:off x="485023" y="4343399"/>
              <a:ext cx="8182128" cy="21124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>
              <a:off x="485023" y="2854646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2005" cy="16927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488023"/>
            <a:ext cx="6422005" cy="2536857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565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430920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10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3" name="TextBox 22"/>
          <p:cNvSpPr txBox="1"/>
          <p:nvPr/>
        </p:nvSpPr>
        <p:spPr bwMode="gray">
          <a:xfrm>
            <a:off x="647430" y="651690"/>
            <a:ext cx="60159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 bwMode="gray">
          <a:xfrm>
            <a:off x="7069418" y="2900292"/>
            <a:ext cx="6190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8060" y="927099"/>
            <a:ext cx="6160385" cy="2882179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387278" y="3809278"/>
            <a:ext cx="5646143" cy="333113"/>
          </a:xfrm>
        </p:spPr>
        <p:txBody>
          <a:bodyPr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5000816"/>
            <a:ext cx="6343673" cy="101061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6130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Oval 1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/>
            <p:nvPr/>
          </p:nvSpPr>
          <p:spPr bwMode="gray">
            <a:xfrm rot="21010068">
              <a:off x="6359946" y="431124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7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7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2057400"/>
            <a:ext cx="6422005" cy="20955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1" y="5024908"/>
            <a:ext cx="6422004" cy="994891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0836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3593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2489200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440" y="3147164"/>
            <a:ext cx="2313432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05614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08471" y="3147164"/>
            <a:ext cx="2318918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60935" y="3147164"/>
            <a:ext cx="2316625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294530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7761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345260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4179596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9055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439" y="4837558"/>
            <a:ext cx="2313432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11125" y="4179595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53189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11125" y="484820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4179596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08641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58642" y="483755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0" name="Straight Connector 39"/>
          <p:cNvCxnSpPr/>
          <p:nvPr/>
        </p:nvCxnSpPr>
        <p:spPr>
          <a:xfrm>
            <a:off x="3290019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4315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21301" y="6387910"/>
            <a:ext cx="990599" cy="228659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6133" y="6387910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837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20420" cy="6860798"/>
            <a:chOff x="-1588" y="0"/>
            <a:chExt cx="9120420" cy="6860798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4966650">
              <a:off x="4673046" y="5107506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</p:grpSp>
      <p:sp>
        <p:nvSpPr>
          <p:cNvPr id="17" name="Rectangle 16"/>
          <p:cNvSpPr/>
          <p:nvPr/>
        </p:nvSpPr>
        <p:spPr>
          <a:xfrm>
            <a:off x="414867" y="402165"/>
            <a:ext cx="4610565" cy="605367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 bwMode="gray">
          <a:xfrm rot="5400000">
            <a:off x="1299309" y="1765596"/>
            <a:ext cx="5995993" cy="3326809"/>
          </a:xfrm>
          <a:custGeom>
            <a:avLst/>
            <a:gdLst/>
            <a:ahLst/>
            <a:cxnLst/>
            <a:rect l="0" t="0" r="r" b="b"/>
            <a:pathLst>
              <a:path w="4960" h="2752">
                <a:moveTo>
                  <a:pt x="0" y="0"/>
                </a:moveTo>
                <a:lnTo>
                  <a:pt x="0" y="324"/>
                </a:lnTo>
                <a:lnTo>
                  <a:pt x="0" y="1992"/>
                </a:lnTo>
                <a:lnTo>
                  <a:pt x="0" y="2752"/>
                </a:lnTo>
                <a:lnTo>
                  <a:pt x="4960" y="2752"/>
                </a:lnTo>
                <a:lnTo>
                  <a:pt x="4960" y="1992"/>
                </a:lnTo>
                <a:lnTo>
                  <a:pt x="4960" y="324"/>
                </a:lnTo>
                <a:lnTo>
                  <a:pt x="4960" y="0"/>
                </a:lnTo>
                <a:lnTo>
                  <a:pt x="4960" y="0"/>
                </a:lnTo>
                <a:lnTo>
                  <a:pt x="4734" y="34"/>
                </a:lnTo>
                <a:lnTo>
                  <a:pt x="4510" y="64"/>
                </a:lnTo>
                <a:lnTo>
                  <a:pt x="4284" y="90"/>
                </a:lnTo>
                <a:lnTo>
                  <a:pt x="4060" y="114"/>
                </a:lnTo>
                <a:lnTo>
                  <a:pt x="3836" y="132"/>
                </a:lnTo>
                <a:lnTo>
                  <a:pt x="3614" y="146"/>
                </a:lnTo>
                <a:lnTo>
                  <a:pt x="3392" y="158"/>
                </a:lnTo>
                <a:lnTo>
                  <a:pt x="3174" y="166"/>
                </a:lnTo>
                <a:lnTo>
                  <a:pt x="2960" y="172"/>
                </a:lnTo>
                <a:lnTo>
                  <a:pt x="2748" y="174"/>
                </a:lnTo>
                <a:lnTo>
                  <a:pt x="2542" y="174"/>
                </a:lnTo>
                <a:lnTo>
                  <a:pt x="2338" y="174"/>
                </a:lnTo>
                <a:lnTo>
                  <a:pt x="2140" y="170"/>
                </a:lnTo>
                <a:lnTo>
                  <a:pt x="1948" y="164"/>
                </a:lnTo>
                <a:lnTo>
                  <a:pt x="1762" y="156"/>
                </a:lnTo>
                <a:lnTo>
                  <a:pt x="1582" y="148"/>
                </a:lnTo>
                <a:lnTo>
                  <a:pt x="1410" y="138"/>
                </a:lnTo>
                <a:lnTo>
                  <a:pt x="1244" y="128"/>
                </a:lnTo>
                <a:lnTo>
                  <a:pt x="1088" y="116"/>
                </a:lnTo>
                <a:lnTo>
                  <a:pt x="938" y="104"/>
                </a:lnTo>
                <a:lnTo>
                  <a:pt x="668" y="78"/>
                </a:lnTo>
                <a:lnTo>
                  <a:pt x="438" y="54"/>
                </a:lnTo>
                <a:lnTo>
                  <a:pt x="254" y="34"/>
                </a:lnTo>
                <a:lnTo>
                  <a:pt x="116" y="1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8" name="Freeform 5"/>
          <p:cNvSpPr>
            <a:spLocks noEditPoints="1"/>
          </p:cNvSpPr>
          <p:nvPr/>
        </p:nvSpPr>
        <p:spPr bwMode="gray">
          <a:xfrm>
            <a:off x="0" y="0"/>
            <a:ext cx="9144000" cy="6858000"/>
          </a:xfrm>
          <a:custGeom>
            <a:avLst/>
            <a:gdLst/>
            <a:ahLst/>
            <a:cxnLst/>
            <a:rect l="0" t="0" r="r" b="b"/>
            <a:pathLst>
              <a:path w="5760" h="4320">
                <a:moveTo>
                  <a:pt x="0" y="0"/>
                </a:moveTo>
                <a:lnTo>
                  <a:pt x="0" y="4320"/>
                </a:lnTo>
                <a:lnTo>
                  <a:pt x="5760" y="4320"/>
                </a:lnTo>
                <a:lnTo>
                  <a:pt x="5760" y="0"/>
                </a:lnTo>
                <a:lnTo>
                  <a:pt x="0" y="0"/>
                </a:lnTo>
                <a:close/>
                <a:moveTo>
                  <a:pt x="5444" y="4004"/>
                </a:moveTo>
                <a:lnTo>
                  <a:pt x="324" y="4004"/>
                </a:lnTo>
                <a:lnTo>
                  <a:pt x="324" y="324"/>
                </a:lnTo>
                <a:lnTo>
                  <a:pt x="5444" y="324"/>
                </a:lnTo>
                <a:lnTo>
                  <a:pt x="5444" y="40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74928" y="1447799"/>
            <a:ext cx="1113516" cy="4572001"/>
          </a:xfrm>
        </p:spPr>
        <p:txBody>
          <a:bodyPr vert="eaVert" anchor="ctr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738" y="1447799"/>
            <a:ext cx="4416936" cy="45720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546" y="6365498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401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21010068">
              <a:off x="6359946" y="179029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5" name="Freeform 24"/>
            <p:cNvSpPr/>
            <p:nvPr/>
          </p:nvSpPr>
          <p:spPr bwMode="gray">
            <a:xfrm>
              <a:off x="485023" y="1856450"/>
              <a:ext cx="8173954" cy="4535226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440" y="927099"/>
            <a:ext cx="6345260" cy="7098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4382" y="2489200"/>
            <a:ext cx="6345260" cy="353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74443" y="6365498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 b="1" i="0">
                <a:solidFill>
                  <a:schemeClr val="accen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15/06/2026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0843" y="6365497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446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b="0" i="0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83464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6012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3444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0876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0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25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4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000" dirty="0"/>
              <a:t>Lightning Talk #1</a:t>
            </a:r>
            <a:endParaRPr sz="6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sz="2800" dirty="0"/>
              <a:t>Topics:</a:t>
            </a:r>
          </a:p>
          <a:p>
            <a:pPr marL="0" indent="0">
              <a:buNone/>
            </a:pPr>
            <a:r>
              <a:rPr sz="2800" dirty="0"/>
              <a:t>1. Loan Default Prediction</a:t>
            </a:r>
          </a:p>
          <a:p>
            <a:pPr marL="0" indent="0">
              <a:buNone/>
            </a:pPr>
            <a:r>
              <a:rPr sz="2800" dirty="0"/>
              <a:t>2. Hospital Readmission Prediction</a:t>
            </a:r>
          </a:p>
          <a:p>
            <a:pPr marL="0" indent="0">
              <a:buNone/>
            </a:pPr>
            <a:r>
              <a:rPr sz="2800" dirty="0"/>
              <a:t>3. Customer Churn Prediction</a:t>
            </a:r>
            <a:endParaRPr lang="en-US" sz="2800" dirty="0"/>
          </a:p>
          <a:p>
            <a:endParaRPr lang="en-US" dirty="0"/>
          </a:p>
          <a:p>
            <a:pPr marL="0" indent="0">
              <a:buNone/>
            </a:pPr>
            <a:r>
              <a:rPr lang="en-US" sz="1600" dirty="0"/>
              <a:t>Prepared by: Husain Ahmed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Topic 1: Loan Default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sz="2400" dirty="0"/>
          </a:p>
          <a:p>
            <a:pPr marL="0" indent="0">
              <a:buNone/>
            </a:pPr>
            <a:endParaRPr sz="2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CCF26E-45F9-273D-1529-5F06C4ADA429}"/>
              </a:ext>
            </a:extLst>
          </p:cNvPr>
          <p:cNvSpPr/>
          <p:nvPr/>
        </p:nvSpPr>
        <p:spPr>
          <a:xfrm>
            <a:off x="790049" y="1811043"/>
            <a:ext cx="7563901" cy="1844202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b="1" dirty="0">
                <a:latin typeface="+mj-lt"/>
              </a:rPr>
              <a:t>Problem Statement:</a:t>
            </a:r>
          </a:p>
          <a:p>
            <a:pPr marL="0" indent="0">
              <a:buNone/>
            </a:pPr>
            <a:r>
              <a:rPr lang="en-US" sz="2400" b="0" i="0" dirty="0">
                <a:effectLst/>
                <a:latin typeface="+mj-lt"/>
              </a:rPr>
              <a:t>Loan default is a major risk for financial institutions, as it can lead to significant financial losses. </a:t>
            </a:r>
            <a:endParaRPr lang="en-US" sz="2400" dirty="0"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F1B44E1-CD31-CE3B-72BB-76775ECAA0A5}"/>
              </a:ext>
            </a:extLst>
          </p:cNvPr>
          <p:cNvSpPr/>
          <p:nvPr/>
        </p:nvSpPr>
        <p:spPr>
          <a:xfrm>
            <a:off x="790048" y="4101126"/>
            <a:ext cx="7563901" cy="1844202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b="1" dirty="0">
                <a:latin typeface="+mj-lt"/>
              </a:rPr>
              <a:t>Goal:</a:t>
            </a:r>
          </a:p>
          <a:p>
            <a:pPr marL="0" indent="0">
              <a:buNone/>
            </a:pPr>
            <a:r>
              <a:rPr lang="en-US" sz="2400" dirty="0">
                <a:latin typeface="+mj-lt"/>
              </a:rPr>
              <a:t>Develop a Supervised Binary Classification model that will predict </a:t>
            </a:r>
            <a:r>
              <a:rPr lang="en-US" sz="2400" b="0" i="0" dirty="0">
                <a:effectLst/>
                <a:latin typeface="+mj-lt"/>
              </a:rPr>
              <a:t>whether a borrower will default on a loan</a:t>
            </a:r>
            <a:r>
              <a:rPr lang="en-US" sz="2400" dirty="0">
                <a:latin typeface="+mj-lt"/>
              </a:rPr>
              <a:t>.</a:t>
            </a:r>
          </a:p>
          <a:p>
            <a:pPr algn="ctr"/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 1: EDA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endParaRPr sz="2400" dirty="0"/>
          </a:p>
          <a:p>
            <a:endParaRPr sz="2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E62EB8D-BB2C-C7B0-D87E-BE8ED9A6AAA9}"/>
              </a:ext>
            </a:extLst>
          </p:cNvPr>
          <p:cNvSpPr/>
          <p:nvPr/>
        </p:nvSpPr>
        <p:spPr>
          <a:xfrm>
            <a:off x="730579" y="1841844"/>
            <a:ext cx="3568044" cy="17722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400" dirty="0">
                <a:latin typeface="+mj-lt"/>
              </a:rPr>
              <a:t>Dataset Overview:</a:t>
            </a:r>
          </a:p>
          <a:p>
            <a:pPr lvl="1"/>
            <a:r>
              <a:rPr lang="en-US" sz="2400" dirty="0">
                <a:latin typeface="+mj-lt"/>
              </a:rPr>
              <a:t>Records: 148,670</a:t>
            </a:r>
          </a:p>
          <a:p>
            <a:pPr lvl="1"/>
            <a:r>
              <a:rPr lang="en-US" sz="2400" dirty="0">
                <a:latin typeface="+mj-lt"/>
              </a:rPr>
              <a:t>Features: 34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6A0274C-D972-1472-0A7F-B43925292C8F}"/>
              </a:ext>
            </a:extLst>
          </p:cNvPr>
          <p:cNvSpPr/>
          <p:nvPr/>
        </p:nvSpPr>
        <p:spPr>
          <a:xfrm>
            <a:off x="730579" y="4174263"/>
            <a:ext cx="3714160" cy="17722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000" dirty="0"/>
              <a:t>Missing Values: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Upfront_charges</a:t>
            </a:r>
            <a:r>
              <a:rPr lang="en-US" dirty="0"/>
              <a:t> (26.66%)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Interest_rate_spread</a:t>
            </a:r>
            <a:r>
              <a:rPr lang="en-US" dirty="0"/>
              <a:t> (24.64%)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rate_of_interest</a:t>
            </a:r>
            <a:r>
              <a:rPr lang="en-US" dirty="0"/>
              <a:t> (24.51%)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1E3B1B2-FF3C-799C-2FD4-9F8EFBB368AC}"/>
              </a:ext>
            </a:extLst>
          </p:cNvPr>
          <p:cNvSpPr/>
          <p:nvPr/>
        </p:nvSpPr>
        <p:spPr>
          <a:xfrm>
            <a:off x="5118756" y="1841843"/>
            <a:ext cx="3568044" cy="17722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400" dirty="0">
                <a:latin typeface="+mj-lt"/>
              </a:rPr>
              <a:t>Feature Types:</a:t>
            </a:r>
          </a:p>
          <a:p>
            <a:pPr lvl="1"/>
            <a:r>
              <a:rPr lang="en-US" sz="2400" dirty="0">
                <a:latin typeface="+mj-lt"/>
              </a:rPr>
              <a:t>Numerical: 13</a:t>
            </a:r>
          </a:p>
          <a:p>
            <a:pPr lvl="1"/>
            <a:r>
              <a:rPr lang="en-US" sz="2400" dirty="0">
                <a:latin typeface="+mj-lt"/>
              </a:rPr>
              <a:t>Categorical: 21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E0A7692-08E1-A1FC-6843-856EB6772D7F}"/>
              </a:ext>
            </a:extLst>
          </p:cNvPr>
          <p:cNvSpPr/>
          <p:nvPr/>
        </p:nvSpPr>
        <p:spPr>
          <a:xfrm>
            <a:off x="5118756" y="4174263"/>
            <a:ext cx="3568044" cy="17722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latin typeface="+mj-lt"/>
              </a:rPr>
              <a:t>Outliers: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Income - </a:t>
            </a:r>
            <a:r>
              <a:rPr lang="en-US" b="0" i="0" dirty="0">
                <a:effectLst/>
                <a:latin typeface="+mj-lt"/>
              </a:rPr>
              <a:t>6,546 rows</a:t>
            </a:r>
            <a:endParaRPr lang="en-US" dirty="0"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>
                <a:latin typeface="+mj-lt"/>
              </a:rPr>
              <a:t>property_value</a:t>
            </a:r>
            <a:r>
              <a:rPr lang="en-US" dirty="0">
                <a:latin typeface="+mj-lt"/>
              </a:rPr>
              <a:t> - </a:t>
            </a:r>
            <a:r>
              <a:rPr lang="en-US" b="0" i="0" dirty="0">
                <a:effectLst/>
                <a:latin typeface="+mj-lt"/>
              </a:rPr>
              <a:t>5,266 rows</a:t>
            </a:r>
            <a:endParaRPr lang="en-US" dirty="0"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>
                <a:latin typeface="+mj-lt"/>
              </a:rPr>
              <a:t>Upfront_charges</a:t>
            </a:r>
            <a:r>
              <a:rPr lang="en-US" dirty="0">
                <a:latin typeface="+mj-lt"/>
              </a:rPr>
              <a:t> - </a:t>
            </a:r>
            <a:r>
              <a:rPr lang="en-US" b="0" i="0" dirty="0">
                <a:effectLst/>
                <a:latin typeface="+mj-lt"/>
              </a:rPr>
              <a:t>2,880 rows</a:t>
            </a: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7689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Topic 2: Hospital Readmission Prediction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B9B4544-277E-A091-D703-7EB3DEAD696C}"/>
              </a:ext>
            </a:extLst>
          </p:cNvPr>
          <p:cNvSpPr/>
          <p:nvPr/>
        </p:nvSpPr>
        <p:spPr>
          <a:xfrm>
            <a:off x="790049" y="1839326"/>
            <a:ext cx="7563901" cy="1844202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b="1" dirty="0">
                <a:latin typeface="+mj-lt"/>
              </a:rPr>
              <a:t>Problem Statement:</a:t>
            </a:r>
          </a:p>
          <a:p>
            <a:pPr marL="0" indent="0">
              <a:buNone/>
            </a:pPr>
            <a:r>
              <a:rPr lang="en-US" sz="2400" dirty="0">
                <a:latin typeface="+mj-lt"/>
              </a:rPr>
              <a:t>R</a:t>
            </a:r>
            <a:r>
              <a:rPr lang="en-US" sz="2400" b="0" i="0" dirty="0">
                <a:effectLst/>
                <a:latin typeface="+mj-lt"/>
              </a:rPr>
              <a:t>epeated admissions increase healthcare costs and may indicate inadequate treatment or follow-up care. </a:t>
            </a:r>
            <a:endParaRPr lang="en-US" sz="2400" dirty="0"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4432294-6830-0C2B-36CF-068290F67AB8}"/>
              </a:ext>
            </a:extLst>
          </p:cNvPr>
          <p:cNvSpPr/>
          <p:nvPr/>
        </p:nvSpPr>
        <p:spPr>
          <a:xfrm>
            <a:off x="790049" y="4101126"/>
            <a:ext cx="7563901" cy="1844202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b="1" dirty="0">
                <a:latin typeface="+mj-lt"/>
              </a:rPr>
              <a:t>Goal:</a:t>
            </a:r>
          </a:p>
          <a:p>
            <a:pPr marL="0" indent="0">
              <a:buNone/>
            </a:pPr>
            <a:r>
              <a:rPr lang="en-US" sz="2400" dirty="0">
                <a:latin typeface="+mj-lt"/>
              </a:rPr>
              <a:t>Develop a Supervised Binary Classification model that will predict </a:t>
            </a:r>
            <a:r>
              <a:rPr lang="en-US" sz="2400" b="0" i="0" dirty="0">
                <a:effectLst/>
                <a:latin typeface="+mj-lt"/>
              </a:rPr>
              <a:t>whether a diabetic patient will be readmitted after discharge.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 2: EDA Findings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62D8D00-A99B-B40C-3CDD-ABF7A2104DF6}"/>
              </a:ext>
            </a:extLst>
          </p:cNvPr>
          <p:cNvSpPr/>
          <p:nvPr/>
        </p:nvSpPr>
        <p:spPr>
          <a:xfrm>
            <a:off x="787141" y="1958417"/>
            <a:ext cx="3568044" cy="17722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400" dirty="0">
                <a:latin typeface="+mj-lt"/>
              </a:rPr>
              <a:t>Dataset Overview:</a:t>
            </a:r>
          </a:p>
          <a:p>
            <a:pPr lvl="1"/>
            <a:r>
              <a:rPr lang="en-US" sz="2400" dirty="0">
                <a:latin typeface="+mj-lt"/>
              </a:rPr>
              <a:t>Records: 101,766</a:t>
            </a:r>
          </a:p>
          <a:p>
            <a:pPr lvl="1"/>
            <a:r>
              <a:rPr lang="en-US" sz="2400" dirty="0">
                <a:latin typeface="+mj-lt"/>
              </a:rPr>
              <a:t>Features: 50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AC5E38-CC70-C525-6EF5-6D2FE7C331D7}"/>
              </a:ext>
            </a:extLst>
          </p:cNvPr>
          <p:cNvSpPr/>
          <p:nvPr/>
        </p:nvSpPr>
        <p:spPr>
          <a:xfrm>
            <a:off x="714083" y="4271435"/>
            <a:ext cx="3714160" cy="17722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000" dirty="0">
                <a:latin typeface="+mj-lt"/>
              </a:rPr>
              <a:t>Missing Values: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</a:rPr>
              <a:t>weight (96.86%)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j-lt"/>
              </a:rPr>
              <a:t>max_glu_serum</a:t>
            </a:r>
            <a:r>
              <a:rPr lang="en-US" sz="2000" dirty="0">
                <a:latin typeface="+mj-lt"/>
              </a:rPr>
              <a:t> (94.75%)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</a:rPr>
              <a:t>A1Cresult (83.28%)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7528CC-F40B-C263-4227-99C1367D445E}"/>
              </a:ext>
            </a:extLst>
          </p:cNvPr>
          <p:cNvSpPr/>
          <p:nvPr/>
        </p:nvSpPr>
        <p:spPr>
          <a:xfrm>
            <a:off x="4819453" y="1958417"/>
            <a:ext cx="3568044" cy="17722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400" dirty="0">
                <a:latin typeface="+mj-lt"/>
              </a:rPr>
              <a:t>Feature Types:</a:t>
            </a:r>
          </a:p>
          <a:p>
            <a:pPr lvl="1"/>
            <a:r>
              <a:rPr lang="en-US" sz="2400" dirty="0">
                <a:latin typeface="+mj-lt"/>
              </a:rPr>
              <a:t>Numerical: 13</a:t>
            </a:r>
          </a:p>
          <a:p>
            <a:pPr lvl="1"/>
            <a:r>
              <a:rPr lang="en-US" sz="2400" dirty="0">
                <a:latin typeface="+mj-lt"/>
              </a:rPr>
              <a:t>Categorical: 37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8ADAFED-E003-3095-FAFC-DD62521638CD}"/>
              </a:ext>
            </a:extLst>
          </p:cNvPr>
          <p:cNvSpPr/>
          <p:nvPr/>
        </p:nvSpPr>
        <p:spPr>
          <a:xfrm>
            <a:off x="4819453" y="4271435"/>
            <a:ext cx="3568044" cy="17722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600" dirty="0">
                <a:latin typeface="+mj-lt"/>
              </a:rPr>
              <a:t>Outliers: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+mj-lt"/>
              </a:rPr>
              <a:t>number_outpatient</a:t>
            </a:r>
            <a:r>
              <a:rPr lang="en-US" sz="1600" dirty="0">
                <a:latin typeface="+mj-lt"/>
              </a:rPr>
              <a:t> - </a:t>
            </a:r>
            <a:r>
              <a:rPr lang="en-US" sz="1600" b="0" i="0" dirty="0">
                <a:effectLst/>
                <a:latin typeface="+mj-lt"/>
              </a:rPr>
              <a:t>16,739 rows</a:t>
            </a:r>
            <a:endParaRPr lang="en-US" sz="1600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+mj-lt"/>
              </a:rPr>
              <a:t>number_emergency</a:t>
            </a:r>
            <a:r>
              <a:rPr lang="en-US" sz="1600" dirty="0">
                <a:latin typeface="+mj-lt"/>
              </a:rPr>
              <a:t> - </a:t>
            </a:r>
            <a:r>
              <a:rPr lang="en-US" sz="1600" b="0" i="0" dirty="0">
                <a:effectLst/>
                <a:latin typeface="+mj-lt"/>
              </a:rPr>
              <a:t>11,383 rows</a:t>
            </a:r>
            <a:endParaRPr lang="en-US" sz="1600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+mj-lt"/>
              </a:rPr>
              <a:t>number_inpatient</a:t>
            </a:r>
            <a:r>
              <a:rPr lang="en-US" sz="1600" dirty="0">
                <a:latin typeface="+mj-lt"/>
              </a:rPr>
              <a:t> - </a:t>
            </a:r>
            <a:r>
              <a:rPr lang="en-US" sz="1600" b="0" i="0" dirty="0">
                <a:effectLst/>
                <a:latin typeface="+mj-lt"/>
              </a:rPr>
              <a:t>7,049 rows</a:t>
            </a:r>
            <a:endParaRPr lang="en-US" sz="1600" dirty="0">
              <a:latin typeface="+mj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 3: Customer Churn Prediction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5F3E185-AE0B-2133-2D71-CA5B6078FF0D}"/>
              </a:ext>
            </a:extLst>
          </p:cNvPr>
          <p:cNvSpPr/>
          <p:nvPr/>
        </p:nvSpPr>
        <p:spPr>
          <a:xfrm>
            <a:off x="790049" y="1839325"/>
            <a:ext cx="7563901" cy="230846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b="1" dirty="0">
                <a:latin typeface="+mj-lt"/>
              </a:rPr>
              <a:t>Problem Statement:</a:t>
            </a:r>
          </a:p>
          <a:p>
            <a:pPr marL="0" indent="0">
              <a:buNone/>
            </a:pPr>
            <a:r>
              <a:rPr lang="en-US" sz="2400" dirty="0">
                <a:latin typeface="+mj-lt"/>
              </a:rPr>
              <a:t>Customer churn reduces revenue and increases customer acquisition costs. 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4925575-482D-572F-8609-561B924F72B8}"/>
              </a:ext>
            </a:extLst>
          </p:cNvPr>
          <p:cNvSpPr/>
          <p:nvPr/>
        </p:nvSpPr>
        <p:spPr>
          <a:xfrm>
            <a:off x="790049" y="4327372"/>
            <a:ext cx="7563901" cy="1844202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b="1" dirty="0">
                <a:latin typeface="+mj-lt"/>
              </a:rPr>
              <a:t>Goal:</a:t>
            </a:r>
          </a:p>
          <a:p>
            <a:pPr marL="0" indent="0">
              <a:buNone/>
            </a:pPr>
            <a:r>
              <a:rPr lang="en-US" sz="2400" dirty="0">
                <a:latin typeface="+mj-lt"/>
              </a:rPr>
              <a:t>Develop a </a:t>
            </a:r>
            <a:r>
              <a:rPr lang="en-US" sz="2400" b="1" dirty="0">
                <a:latin typeface="+mj-lt"/>
              </a:rPr>
              <a:t>Supervised Binary Classification</a:t>
            </a:r>
            <a:r>
              <a:rPr lang="en-US" sz="2400" dirty="0">
                <a:latin typeface="+mj-lt"/>
              </a:rPr>
              <a:t> model to predict whether a customer is likely to churn.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 3: EDA Findings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45501FD-9693-6186-AD7C-C26747F66562}"/>
              </a:ext>
            </a:extLst>
          </p:cNvPr>
          <p:cNvSpPr/>
          <p:nvPr/>
        </p:nvSpPr>
        <p:spPr>
          <a:xfrm>
            <a:off x="787141" y="1958417"/>
            <a:ext cx="3568044" cy="17722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400" dirty="0">
                <a:latin typeface="+mj-lt"/>
              </a:rPr>
              <a:t>Dataset Overview:</a:t>
            </a:r>
          </a:p>
          <a:p>
            <a:pPr lvl="1"/>
            <a:r>
              <a:rPr lang="en-US" sz="2400" dirty="0">
                <a:latin typeface="+mj-lt"/>
              </a:rPr>
              <a:t>Records: 50,000</a:t>
            </a:r>
          </a:p>
          <a:p>
            <a:pPr lvl="1"/>
            <a:r>
              <a:rPr lang="en-US" sz="2400" dirty="0">
                <a:latin typeface="+mj-lt"/>
              </a:rPr>
              <a:t>Features: 25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E996918-8373-8729-2A12-B28F73E9BB18}"/>
              </a:ext>
            </a:extLst>
          </p:cNvPr>
          <p:cNvSpPr/>
          <p:nvPr/>
        </p:nvSpPr>
        <p:spPr>
          <a:xfrm>
            <a:off x="4819453" y="4271435"/>
            <a:ext cx="3714160" cy="17722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800" dirty="0"/>
              <a:t>Outliers 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</a:rPr>
              <a:t>Payment_Method_Diversity</a:t>
            </a:r>
            <a:r>
              <a:rPr lang="en-US" dirty="0"/>
              <a:t> - </a:t>
            </a:r>
            <a:r>
              <a:rPr lang="en-US" b="0" i="0" dirty="0">
                <a:effectLst/>
              </a:rPr>
              <a:t>2,439 rows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</a:rPr>
              <a:t>Days_Since_</a:t>
            </a:r>
            <a:r>
              <a:rPr lang="en-US" b="0" i="0" dirty="0" err="1">
                <a:effectLst/>
                <a:latin typeface="+mj-lt"/>
              </a:rPr>
              <a:t>Last</a:t>
            </a:r>
            <a:r>
              <a:rPr lang="en-US" b="0" i="0" dirty="0" err="1">
                <a:effectLst/>
              </a:rPr>
              <a:t>_Purchase</a:t>
            </a:r>
            <a:r>
              <a:rPr lang="en-US" b="0" i="0" dirty="0">
                <a:effectLst/>
              </a:rPr>
              <a:t> - 2,313 rows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</a:rPr>
              <a:t>Lifetime_Value</a:t>
            </a:r>
            <a:r>
              <a:rPr lang="en-US" b="0" i="0" dirty="0">
                <a:effectLst/>
              </a:rPr>
              <a:t> - 1,684 rows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0F1658C-50A3-D4C1-EFC8-8B35D6A426F0}"/>
              </a:ext>
            </a:extLst>
          </p:cNvPr>
          <p:cNvSpPr/>
          <p:nvPr/>
        </p:nvSpPr>
        <p:spPr>
          <a:xfrm>
            <a:off x="4819453" y="1958417"/>
            <a:ext cx="3568044" cy="17722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400" dirty="0">
                <a:latin typeface="+mj-lt"/>
              </a:rPr>
              <a:t>Feature Types:</a:t>
            </a:r>
          </a:p>
          <a:p>
            <a:pPr lvl="1"/>
            <a:r>
              <a:rPr lang="en-US" sz="2400" dirty="0">
                <a:latin typeface="+mj-lt"/>
              </a:rPr>
              <a:t>Numerical: 21</a:t>
            </a:r>
          </a:p>
          <a:p>
            <a:pPr lvl="1"/>
            <a:r>
              <a:rPr lang="en-US" sz="2400" dirty="0">
                <a:latin typeface="+mj-lt"/>
              </a:rPr>
              <a:t>Categorical: 4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1E89DB7-8C9C-31A7-E1D5-9CA1E70617C7}"/>
              </a:ext>
            </a:extLst>
          </p:cNvPr>
          <p:cNvSpPr/>
          <p:nvPr/>
        </p:nvSpPr>
        <p:spPr>
          <a:xfrm>
            <a:off x="787141" y="4271434"/>
            <a:ext cx="3568044" cy="177223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650" dirty="0">
                <a:latin typeface="+mj-lt"/>
              </a:rPr>
              <a:t>Missing Values: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 err="1">
                <a:latin typeface="+mj-lt"/>
              </a:rPr>
              <a:t>Social_Media_Engagement_Score</a:t>
            </a:r>
            <a:r>
              <a:rPr lang="en-US" sz="1650" dirty="0">
                <a:latin typeface="+mj-lt"/>
              </a:rPr>
              <a:t> (12%)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 err="1">
                <a:latin typeface="+mj-lt"/>
              </a:rPr>
              <a:t>Credit_Balance</a:t>
            </a:r>
            <a:r>
              <a:rPr lang="en-US" sz="1650" dirty="0">
                <a:latin typeface="+mj-lt"/>
              </a:rPr>
              <a:t> (11%)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 err="1">
                <a:latin typeface="+mj-lt"/>
              </a:rPr>
              <a:t>Mobile_App_Usage</a:t>
            </a:r>
            <a:r>
              <a:rPr lang="en-US" sz="1650" dirty="0">
                <a:latin typeface="+mj-lt"/>
              </a:rPr>
              <a:t> (10%)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208</TotalTime>
  <Words>359</Words>
  <Application>Microsoft Office PowerPoint</Application>
  <PresentationFormat>On-screen Show (4:3)</PresentationFormat>
  <Paragraphs>68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Century Gothic</vt:lpstr>
      <vt:lpstr>Wingdings 3</vt:lpstr>
      <vt:lpstr>Ion Boardroom</vt:lpstr>
      <vt:lpstr>Lightning Talk #1</vt:lpstr>
      <vt:lpstr>Topic 1: Loan Default Prediction</vt:lpstr>
      <vt:lpstr>Topic 1: EDA Findings</vt:lpstr>
      <vt:lpstr>Topic 2: Hospital Readmission Prediction</vt:lpstr>
      <vt:lpstr>Topic 2: EDA Findings</vt:lpstr>
      <vt:lpstr>Topic 3: Customer Churn Prediction</vt:lpstr>
      <vt:lpstr>Topic 3: EDA Findings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Lightning Talk #1</dc:title>
  <dc:subject/>
  <dc:creator/>
  <cp:keywords/>
  <dc:description>generated using python-pptx</dc:description>
  <cp:lastModifiedBy>Ahmed, Husain</cp:lastModifiedBy>
  <cp:revision>5</cp:revision>
  <dcterms:created xsi:type="dcterms:W3CDTF">2013-01-27T09:14:16Z</dcterms:created>
  <dcterms:modified xsi:type="dcterms:W3CDTF">2026-06-15T15:03:42Z</dcterms:modified>
  <cp:category/>
</cp:coreProperties>
</file>